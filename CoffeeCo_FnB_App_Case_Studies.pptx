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31F38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31F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DigitalBCG  x  CoffeeCo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Digital Trends in F&amp;B: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Through the Mobile App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best-in-class F&amp;B players use mobile apps to deepen customer engagement and drive same-store sales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31750">
            <a:solidFill>
              <a:srgbClr val="C178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 |  Two Best-in-Class App Case Studies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 •  STARBUCKS REWARDS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background and why Starbucks doubled down on its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675120" cy="4709160"/>
          </a:xfrm>
          <a:prstGeom prst="rect">
            <a:avLst>
              <a:gd name="adj" fmla="val 1553"/>
            </a:avLst>
          </a:prstGeom>
          <a:solidFill>
            <a:srgbClr val="F6F1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coffeehouse chain,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38,000+ stores globally,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 an increasingly saturated, price- and convenience-driven quick-service market.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THAT PROMPTED THE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" y="3392424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8269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Intensifying competition from QSR and independent coffee players eroding differentiation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" y="3904488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947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queues and long wait times during peak hours hurting the experience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" y="4416552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0682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view of the customer across in-store, card, and delivery channels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" y="4928616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1888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convert occasional visitors into frequent, loyal, high-value 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“Almost all of the company's same-store sales growth has come from customers with digital relationships and Rewards membership.” — Starbucks CFO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1508760"/>
            <a:ext cx="4343400" cy="1417320"/>
          </a:xfrm>
          <a:prstGeom prst="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764792"/>
            <a:ext cx="914400" cy="914400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19" name="Image 0" descr="/home/claude/deck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4" y="2002536"/>
            <a:ext cx="438912" cy="4389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0" y="1673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34.6M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68680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U.S. Rewards members (2025), +13% YoY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60920" y="3200400"/>
            <a:ext cx="4343400" cy="1417320"/>
          </a:xfrm>
          <a:prstGeom prst="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3" name="Shape 20"/>
          <p:cNvSpPr/>
          <p:nvPr/>
        </p:nvSpPr>
        <p:spPr>
          <a:xfrm>
            <a:off x="7589520" y="3456432"/>
            <a:ext cx="914400" cy="914400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24" name="Image 1" descr="/home/claude/deck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3694176"/>
            <a:ext cx="438912" cy="4389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686800" y="3364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~59%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868680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U.S. sales driven through Rewards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7360920" y="4892040"/>
            <a:ext cx="4343400" cy="1417320"/>
          </a:xfrm>
          <a:prstGeom prst="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8" name="Shape 24"/>
          <p:cNvSpPr/>
          <p:nvPr/>
        </p:nvSpPr>
        <p:spPr>
          <a:xfrm>
            <a:off x="7589520" y="5148072"/>
            <a:ext cx="914400" cy="914400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29" name="Image 2" descr="/home/claude/deck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5385816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86800" y="5056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20-30%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8686800" y="5577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spend among members vs. non-members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DigitalBCG  |  CoffeeCo Customer Engagement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 •  STARBUCKS REWARDS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app features and the engagement objective each one serves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82496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6" name="Image 0" descr="/home/claude/deck/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8298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5000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Stars loyalty program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8072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Stars on every purchase, redeemable across tiers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3264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reward frequency, not just spend — encourage habitual visits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481328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4498848" y="1682496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12" name="Image 1" descr="/home/claude/deck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49" y="182989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35000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order &amp; pay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98848" y="28072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ahead, pay in-app, skip the line at pickup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98848" y="3264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remove friction and reduce perceived wait time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481328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17" name="Shape 13"/>
          <p:cNvSpPr/>
          <p:nvPr/>
        </p:nvSpPr>
        <p:spPr>
          <a:xfrm>
            <a:off x="8339328" y="1682496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18" name="Image 2" descr="/home/claude/deck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182989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9328" y="235000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 &amp; recommendations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9328" y="28072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suggestions based on past orders and behavior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39328" y="3264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increase basket size and relevance of promotions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895344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23" name="Shape 18"/>
          <p:cNvSpPr/>
          <p:nvPr/>
        </p:nvSpPr>
        <p:spPr>
          <a:xfrm>
            <a:off x="658368" y="4096512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24" name="Image 3" descr="/home/claude/deck/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9" y="424391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" y="476402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services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58368" y="522122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Geo-located store finder and real-time inventory awareness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8368" y="56784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convert intent into visits at the moment of decision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895344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29" name="Shape 23"/>
          <p:cNvSpPr/>
          <p:nvPr/>
        </p:nvSpPr>
        <p:spPr>
          <a:xfrm>
            <a:off x="4498848" y="4096512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30" name="Image 4" descr="/home/claude/deck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249" y="4243913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98848" y="476402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push notifications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498848" y="522122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Bonus-Star "challenges" and timely, relevant reminders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498848" y="56784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re-engage lapsed users without feeling intrusive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38160" y="3895344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35" name="Shape 28"/>
          <p:cNvSpPr/>
          <p:nvPr/>
        </p:nvSpPr>
        <p:spPr>
          <a:xfrm>
            <a:off x="8339328" y="4096512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36" name="Image 5" descr="/home/claude/deck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729" y="4243913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39328" y="476402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integrations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339328" y="522122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SkyMiles, Bank of America co-branded card benefits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339328" y="56784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extend reach and add layered incentives to stay loyal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DigitalBCG  |  CoffeeCo Customer Engagement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 •  DOMINO'S PIZZA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background and why Domino's went "digital-first"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675120" cy="4709160"/>
          </a:xfrm>
          <a:prstGeom prst="rect">
            <a:avLst>
              <a:gd name="adj" fmla="val 1553"/>
            </a:avLst>
          </a:prstGeom>
          <a:solidFill>
            <a:srgbClr val="F6F1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pizza delivery company, 18,000+ stores in 90+ countries, competing in a commoditized, delivery-heavy category against QSR chains and third-party apps.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THAT PROMPTED THE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" y="3392424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82696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seen as low-differentiation; pizza treated as a commodity purchase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" y="3959352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9624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~25% of sales came through digital channels at the outset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" y="4526280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1655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wanted ordering to be effortless — CEO's own bar: order in the "17 seconds it takes for a light to turn green"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" y="5093208"/>
            <a:ext cx="82296" cy="82296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983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and anxiety during delivery wait times hurt satisfaction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669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revenue grew from ~25% to 94.3% of total sales over a 14-year digital partnership — the benchmark for digital-first QSR.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1508760"/>
            <a:ext cx="4343400" cy="1417320"/>
          </a:xfrm>
          <a:prstGeom prst="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764792"/>
            <a:ext cx="914400" cy="914400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19" name="Image 0" descr="/home/claude/deck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4" y="2002536"/>
            <a:ext cx="438912" cy="4389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0" y="1673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68680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now digital, up from ~25% pre-app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60920" y="3200400"/>
            <a:ext cx="4343400" cy="1417320"/>
          </a:xfrm>
          <a:prstGeom prst="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3" name="Shape 20"/>
          <p:cNvSpPr/>
          <p:nvPr/>
        </p:nvSpPr>
        <p:spPr>
          <a:xfrm>
            <a:off x="7589520" y="3456432"/>
            <a:ext cx="914400" cy="914400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24" name="Image 1" descr="/home/claude/deck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3694176"/>
            <a:ext cx="438912" cy="4389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686800" y="3364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44M+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868680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digital users across ordering platforms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7360920" y="4892040"/>
            <a:ext cx="4343400" cy="1417320"/>
          </a:xfrm>
          <a:prstGeom prst="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8" name="Shape 24"/>
          <p:cNvSpPr/>
          <p:nvPr/>
        </p:nvSpPr>
        <p:spPr>
          <a:xfrm>
            <a:off x="7589520" y="5148072"/>
            <a:ext cx="914400" cy="914400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29" name="Image 2" descr="/home/claude/deck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5385816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86800" y="5056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8686800" y="5577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6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platforms — app, voice, smart TV, watch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DigitalBCG  |  CoffeeCo Customer Engagement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 •  DOMINO'S PIZZA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app features and the engagement objective each one serves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82496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6" name="Image 0" descr="/home/claude/deck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8298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5000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Tracker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8072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stage-by-stage order tracking from prep to delivery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3264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reduce anxiety and build trust through transparency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481328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4498848" y="1682496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12" name="Image 1" descr="/home/claude/deck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49" y="182989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35000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Order &amp; AnyWare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98848" y="28072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reorder of saved favorites via app, watch, TV, or voice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98848" y="3264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friction at every possible ordering touchpoint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481328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17" name="Shape 13"/>
          <p:cNvSpPr/>
          <p:nvPr/>
        </p:nvSpPr>
        <p:spPr>
          <a:xfrm>
            <a:off x="8339328" y="1682496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18" name="Image 2" descr="/home/claude/deck/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182989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9328" y="235000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Build-your-own &amp; saved pizzas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9328" y="28072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and save personal pizza profiles for instant reorder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39328" y="3264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personalize the product, not just the marketing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895344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23" name="Shape 18"/>
          <p:cNvSpPr/>
          <p:nvPr/>
        </p:nvSpPr>
        <p:spPr>
          <a:xfrm>
            <a:off x="658368" y="4096512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24" name="Image 3" descr="/home/claude/deck/g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9" y="424391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" y="476402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of the Pie Rewards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58368" y="522122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on every order redeemable for free items in-app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8368" y="56784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incentivize repeat purchase and habitual app use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895344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29" name="Shape 23"/>
          <p:cNvSpPr/>
          <p:nvPr/>
        </p:nvSpPr>
        <p:spPr>
          <a:xfrm>
            <a:off x="4498848" y="4096512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30" name="Image 4" descr="/home/claude/deck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249" y="4243913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98848" y="476402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ordering &amp; in-car pickup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498848" y="522122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carts for groups; geofenced curbside/in-car collection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498848" y="56784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fit the app into more real-life occasions, not just delivery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38160" y="3895344"/>
            <a:ext cx="3675888" cy="2212848"/>
          </a:xfrm>
          <a:prstGeom prst="rect">
            <a:avLst>
              <a:gd name="adj" fmla="val 3306"/>
            </a:avLst>
          </a:prstGeom>
          <a:solidFill>
            <a:srgbClr val="F6F1E9"/>
          </a:solidFill>
          <a:ln/>
        </p:spPr>
      </p:sp>
      <p:sp>
        <p:nvSpPr>
          <p:cNvPr id="35" name="Shape 28"/>
          <p:cNvSpPr/>
          <p:nvPr/>
        </p:nvSpPr>
        <p:spPr>
          <a:xfrm>
            <a:off x="8339328" y="4096512"/>
            <a:ext cx="566928" cy="566928"/>
          </a:xfrm>
          <a:prstGeom prst="ellipse">
            <a:avLst/>
          </a:prstGeom>
          <a:solidFill>
            <a:srgbClr val="C17817"/>
          </a:solidFill>
          <a:ln/>
        </p:spPr>
      </p:sp>
      <p:pic>
        <p:nvPicPr>
          <p:cNvPr id="36" name="Image 5" descr="/home/claude/deck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729" y="4243913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39328" y="476402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app-only deals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339328" y="522122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with app-exclusive discounts and offers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339328" y="56784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give customers a reason to open the app, not just a browser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DigitalBCG  |  CoffeeCo Customer Engagement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2026-07-25T13:07:08Z</dcterms:created>
  <dcterms:modified xsi:type="dcterms:W3CDTF">2026-07-25T13:07:08Z</dcterms:modified>
</cp:coreProperties>
</file>